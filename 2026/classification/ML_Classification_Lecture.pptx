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Methods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503 / 511  •  Stony Brook University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Dutta, Ph.D.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Biomedical Informatics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234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Classification?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5544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learning, problem setup, real-world clinical examples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772400" y="1325880"/>
            <a:ext cx="822960" cy="320040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0" y="13258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min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1488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Algorithms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63040" y="24688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→ Decision Trees → Random Forest → SVM → KNN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240280"/>
            <a:ext cx="822960" cy="320040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0" y="22402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0632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AUC-ROC — when to use what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3154680"/>
            <a:ext cx="822960" cy="320040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3154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023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9776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Notebooks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29768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Google Colab notebooks with clinical &amp; genomic datasets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0" y="4069080"/>
            <a:ext cx="822960" cy="320040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0" y="40690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~90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Classification?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4114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training data (X, y)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mapping function f: X → y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Predict: 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labels for new, unseen data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29200" y="1188720"/>
            <a:ext cx="3840480" cy="27432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Clinical Examples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03520" y="17830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classification: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 vs. Benign
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Diabetic vs. Non-diabetic
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effect: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Pathogenic vs. Benign (ClinVar)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8229600" cy="640080"/>
          </a:xfrm>
          <a:prstGeom prst="rect">
            <a:avLst/>
          </a:prstGeom>
          <a:solidFill>
            <a:srgbClr val="CCFBF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114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Distinction:  Classification = discrete labels  |  Regression = continuous values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 Algorithms — Landscape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371600"/>
            <a:ext cx="14630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94560" y="137160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194560" y="1371600"/>
            <a:ext cx="1463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37160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931920" y="1371600"/>
            <a:ext cx="146304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393192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Forest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93192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137160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669280" y="1371600"/>
            <a:ext cx="1463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6692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406640" y="1371600"/>
            <a:ext cx="1463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06640" y="13716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7406640" y="16459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406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we cover all 5 — from simple to complex. Each has strengths in different clinical scenarios.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88720" y="3383280"/>
            <a:ext cx="68580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2004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Simpler / More Interpretable                                               More Powerful / Complex →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P(y=1 | x) = σ(wᵀx + b) = 1 / (1 + e^(-(wᵀx + b)))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 squashes output to [0, 1] → interpretable as probability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Strengths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Probabilistic output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interpretable (coefficients = feature importance)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train, works well for linearly separable data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standard for risk scores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23774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288036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linear decision boundary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complex feature interactions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feature engineering for non-linear patterns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Trees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 Recursively split data on features that best separate classes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Glucose &gt; 120?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2194560"/>
            <a:ext cx="0" cy="4572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0" y="2194560"/>
            <a:ext cx="0" cy="45720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0" y="2240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0" y="2651760"/>
            <a:ext cx="22860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28600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&gt; 30?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651760"/>
            <a:ext cx="1828800" cy="548640"/>
          </a:xfrm>
          <a:prstGeom prst="rect">
            <a:avLst/>
          </a:prstGeom>
          <a:solidFill>
            <a:srgbClr val="DCFCE7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029200" y="2651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Diabetic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13716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Concepts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Impurity: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class mixing at a node. Lower = purer split.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Gain: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entropy after a split. Higher = better.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branches to prevent overfitting (max_depth, min_samples_leaf).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 — each tree votes, majority wins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1645920"/>
            <a:ext cx="16459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0" y="1645920"/>
            <a:ext cx="16459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645920"/>
            <a:ext cx="164592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0" y="1737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0" y="24688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0" y="1828800"/>
            <a:ext cx="1463040" cy="100584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8745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Majority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Vote: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0" y="1920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0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of 3 trees)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383280"/>
            <a:ext cx="8229600" cy="1463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tree trained on a random bootstrap sample of the data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Randomness: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split considers random subset of features (√p for classification)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Variance: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trees overfit, but ensemble generalizes better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ranking of which features matter most — great for biomarker discovery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Vector Machine (SVM)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hyperplane that maximizes the margin between classes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3108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69164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points closest to the decision boundary. They define the margin.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data to higher dimensions where it becomes linearly separable.
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Kernels
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 •  RBF (Gaussian)  •  Polynomial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93192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91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to Use SVM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1031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High-dimensional data (e.g., gene expression)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Small-to-medium datasets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margin of separation exists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Text/sequence classification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Caution: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on very large datasets; less interpretable than logistic regression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K-Nearest Neighbors (KNN)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"Tell me who your neighbors are, and I'll tell you who you are"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 point by majority vote of its K closest neighbors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Steps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560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K (number of neighbors)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17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017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distance to all training points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K nearest neighbors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39319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9319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→ predicted class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2103120"/>
            <a:ext cx="3931920" cy="26517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2194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Considerations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26060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of K: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K → overfitting; Large K → underfitting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metric: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Euclidean (default), Manhattan, Cosine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Essential! Normalize all features first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of dimensionality: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degrades in very high dimensions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Metrics for Classification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657600" cy="2926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+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8600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 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+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6517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−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1645920"/>
            <a:ext cx="137160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0" y="1645920"/>
            <a:ext cx="1371600" cy="822960"/>
          </a:xfrm>
          <a:prstGeom prst="rect">
            <a:avLst/>
          </a:prstGeom>
          <a:solidFill>
            <a:srgbClr val="FEF9C3"/>
          </a:solidFill>
          <a:ln/>
        </p:spPr>
      </p:sp>
      <p:sp>
        <p:nvSpPr>
          <p:cNvPr id="12" name="Text 10"/>
          <p:cNvSpPr/>
          <p:nvPr/>
        </p:nvSpPr>
        <p:spPr>
          <a:xfrm>
            <a:off x="228600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2468880"/>
            <a:ext cx="1371600" cy="8229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86000" y="2468880"/>
            <a:ext cx="1371600" cy="822960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24688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4572000" y="1097280"/>
            <a:ext cx="420624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1234440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Accuracy = (TP+TN) / Total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correctness — misleading with imbalanced data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Precision = TP / (TP+FP)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positives, how many are correct?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Recall = TP / (TP+FN)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positives, how many did we catch?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F1 = 2 × (Prec × Rec) / (Prec + Rec)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mean — balances precision and recall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AUC-ROC
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Threshold-independent measure of discrimination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Metric for Which Scenario?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64008" cy="8229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Cancer Screening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(Sensitivity)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miss a cancer patient — false negatives are costly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64008" cy="8229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Spam Detection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block legitimate emails — false positives are costly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64008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 Classes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040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/ F1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roughly equal, accuracy is meaningful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77640"/>
            <a:ext cx="64008" cy="82296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0040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discriminative power independent of threshold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Comparison at a Glance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1463040"/>
                <a:gridCol w="1097280"/>
                <a:gridCol w="1463040"/>
                <a:gridCol w="2834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Clinical risk scores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discovery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★★☆☆☆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High-dim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★☆☆☆☆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Low / Weak          ★★★★★ = High / Strong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Lab Session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Google Colab Notebooks — increasing complexity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7863840" cy="914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737360"/>
            <a:ext cx="54864" cy="9144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554480" y="17830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Cancer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148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sklearn built-in dataset • Logistic Reg, Decision Tree, Random Forest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train/test split, fitting, confusion matrix, classification report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0" y="201168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788920"/>
            <a:ext cx="7863840" cy="914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788920"/>
            <a:ext cx="54864" cy="9144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880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834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Diabetes Prediction + Model Comparison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Pima Indians dataset • All 5 classifiers head-to-head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ROC curves, cross-validation, hyperparameter tuning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306324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~35 min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7863840" cy="914400"/>
          </a:xfrm>
          <a:prstGeom prst="rect">
            <a:avLst/>
          </a:prstGeom>
          <a:solidFill>
            <a:srgbClr val="24335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84048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9319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54480" y="38862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 Expression Cancer Classification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4251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RNA-seq data • Feature selection +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 high-dimensional data, PCA, feature importance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498080" y="411480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min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best classifier — the right choice depends on your data and constraints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 (Logistic Regression) and increase complexity only if needed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0604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06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256032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evaluate with the metric that matches your clinical cost — Recall for screening, Precision for interventions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scaling, class imbalance, and train/test leakage are the most common beginner mistakes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69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often the best "first try" for tabular biomedical data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move to the notebooks!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Dutta  •  pdutta@cs.stonybrook.edu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Learning: Classification Methods</dc:title>
  <dc:subject>PptxGenJS Presentation</dc:subject>
  <dc:creator>Pratik Dutta</dc:creator>
  <cp:lastModifiedBy>Pratik Dutta</cp:lastModifiedBy>
  <cp:revision>1</cp:revision>
  <dcterms:created xsi:type="dcterms:W3CDTF">2026-04-02T02:22:01Z</dcterms:created>
  <dcterms:modified xsi:type="dcterms:W3CDTF">2026-04-02T02:22:01Z</dcterms:modified>
</cp:coreProperties>
</file>