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6399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Methods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834640"/>
            <a:ext cx="22860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503 / 511  •  Stony Brook University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Dutta, Ph.D.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Biomedical Informatics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Classification?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5544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learning, problem setup, real-world clinical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0" y="1325880"/>
            <a:ext cx="82296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0" y="13258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1488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Algorithms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468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→ Decision Trees → Random Forest → SVM → KNN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2240280"/>
            <a:ext cx="82296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0" y="2240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1089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30632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83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Recall, F1, AUC-ROC — when to use what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0" y="3154680"/>
            <a:ext cx="82296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0" y="31546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40233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Notebooks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63040" y="42976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Google Colab notebooks with clinical &amp; genomic datasets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0" y="4069080"/>
            <a:ext cx="82296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0" y="40690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Classification?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11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training data (X, y)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Learn: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mapping function f: X → y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labels for new, unseen data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0" y="1188720"/>
            <a:ext cx="3840480" cy="274320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2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Examples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0" y="178308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classification: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vs. Benign
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diagnosis: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Diabetic vs. Non-diabetic
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effect: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 vs. Benign (ClinVar)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8229600" cy="640080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Distinction:  Classification = discrete labels  |  Regression = continuous values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Algorithms — Landscape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46304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1371600"/>
            <a:ext cx="14630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94560" y="1645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2560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Tree-based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3192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931920" y="1371600"/>
            <a:ext cx="1463040" cy="548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31920" y="1645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2560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9280" y="1371600"/>
            <a:ext cx="1463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0" y="1645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669280" y="2560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40664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06640" y="1371600"/>
            <a:ext cx="14630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06640" y="1645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06640" y="2560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cover all 5 — from simple to complex. Each has strengths in different clinical scenarios.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188720" y="3383280"/>
            <a:ext cx="68580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32004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Simpler / More Interpretable                                               More Powerful / Complex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P(y=1 | x) = σ(wᵀx + b) = 1 / (1 + e^(-(wᵀx + b)))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function squashes output to [0, 1] → interpretable as probability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output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interpretable (coefficients = feature importance)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train, works well for linearly separable data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standard for risk scores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237744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28803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linear decision boundary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complex feature interactions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feature engineering for non-linear patterns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Trees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Recursively split data on features that best separate classes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1645920"/>
            <a:ext cx="2743200" cy="548640"/>
          </a:xfrm>
          <a:prstGeom prst="rect">
            <a:avLst/>
          </a:prstGeom>
          <a:solidFill>
            <a:srgbClr val="10B98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0" y="1645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&gt; 120?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0" y="2194560"/>
            <a:ext cx="0" cy="4572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0" y="2194560"/>
            <a:ext cx="0" cy="4572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0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0" y="2651760"/>
            <a:ext cx="2286000" cy="54864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&gt; 30?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0" y="2651760"/>
            <a:ext cx="1828800" cy="548640"/>
          </a:xfrm>
          <a:prstGeom prst="rect">
            <a:avLst/>
          </a:prstGeom>
          <a:solidFill>
            <a:srgbClr val="DCFCE7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0" y="2651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Diabetic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7947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Impurity: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class mixing at a node. Lower = purer split.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entropy after a split. Higher = better.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branches to prevent overfitting (max_depth, min_samples_leaf).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 — each tree votes, majority wins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1645920" cy="137160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Tree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645920"/>
            <a:ext cx="1645920" cy="137160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0" y="1645920"/>
            <a:ext cx="1645920" cy="137160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Tree 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0" y="1828800"/>
            <a:ext cx="1463040" cy="1005840"/>
          </a:xfrm>
          <a:prstGeom prst="rect">
            <a:avLst/>
          </a:prstGeom>
          <a:solidFill>
            <a:srgbClr val="FEE2E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66560" y="18745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Majority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Vote: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of 3 trees)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tree trained on a random bootstrap sample of the data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Randomness: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split considers random subset of features (√p for classification)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Variance: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trees overfit, but ensemble generalizes better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ranking of which features matter most — great for biomarker discovery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Vector Machine (SVM)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hyperplane that maximizes the margin between classes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114800" cy="310896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Vectors
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points closest to the decision boundary. They define the margin.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Trick
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data to higher dimensions where it becomes linearly separable.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Kernels
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•  RBF (Gaussian)  •  Polynomial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SVM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210312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High-dimensional data (e.g., gene expression)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Small-to-medium datasets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margin of separation exists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Text/sequence classification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on very large datasets; less interpretable than logistic regression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 Neighbors (KNN)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solidFill>
            <a:srgbClr val="FFFBE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240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"Tell me who your neighbors are, and I'll tell you who you are"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 point by majority vote of its K closest neighbors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Steps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560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 (number of neighbors)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distance to all training points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474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74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K nearest neighbors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 → predicted class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46320" y="2103120"/>
            <a:ext cx="3931920" cy="265176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Considerations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0" y="26060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of K: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K → overfitting; Large K → underfitting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metric: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Euclidean (default), Manhattan, Cosine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scaling: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Essential! Normalize all features first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dimensionality: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degrades in very high dimensions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 for Classification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0" cy="292608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Confusion Matrix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+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−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18288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+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651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645920"/>
            <a:ext cx="1371600" cy="822960"/>
          </a:xfrm>
          <a:prstGeom prst="rect">
            <a:avLst/>
          </a:prstGeom>
          <a:solidFill>
            <a:srgbClr val="DCFC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6459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86000" y="1645920"/>
            <a:ext cx="1371600" cy="822960"/>
          </a:xfrm>
          <a:prstGeom prst="rect">
            <a:avLst/>
          </a:prstGeom>
          <a:solidFill>
            <a:srgbClr val="FEF9C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16459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2468880"/>
            <a:ext cx="1371600" cy="82296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4688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86000" y="2468880"/>
            <a:ext cx="1371600" cy="822960"/>
          </a:xfrm>
          <a:prstGeom prst="rect">
            <a:avLst/>
          </a:prstGeom>
          <a:solidFill>
            <a:srgbClr val="DCFC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286000" y="24688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420624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0" y="123444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= (TP+TN) / Total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correctness — misleading with imbalanced data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 = TP / (TP+FP)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predicted positives, how many are correct?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= TP / (TP+FN)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actual positives, how many did we catch?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 = 2 × (Prec × Rec) / (Prec + Rec)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— balances precision and recall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Threshold-independent measure of discrimination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Metric for Which Scenario?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Cancer Screening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(Sensitivity)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miss a cancer patient — false negatives are costly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82296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Spam Detection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4688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block legitimate emails — false positives are costly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64008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Classes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/ F1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3429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roughly equal, accuracy is meaningful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solidFill>
            <a:srgbClr val="F8FAF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64008" cy="8229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Comparison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discriminative power independent of threshold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Comparison at a Glance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9718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Non-linearity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★☆☆☆☆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risk scores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discovery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High-dim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★☆☆☆☆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★★★★☆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datasets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Low / Weak          ★★★★★ = High / Strong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 Session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Google Colab Notebooks — increasing complexity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863840" cy="914400"/>
          </a:xfrm>
          <a:prstGeom prst="rect">
            <a:avLst/>
          </a:prstGeom>
          <a:solidFill>
            <a:srgbClr val="24335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4864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5448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Breast Cancer Classification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48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 built-in dataset • Logistic Reg, Decision Tree, Random Forest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train/test split, fitting, confusion matrix, classification report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0" y="20116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7863840" cy="914400"/>
          </a:xfrm>
          <a:prstGeom prst="rect">
            <a:avLst/>
          </a:prstGeom>
          <a:solidFill>
            <a:srgbClr val="24335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54864" cy="9144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8803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2834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Diabetes Prediction + Model Comparison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dataset • All 5 classifiers head-to-head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ROC curves, cross-validation, hyperparameter tuning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0" y="3063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min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7863840" cy="914400"/>
          </a:xfrm>
          <a:prstGeom prst="rect">
            <a:avLst/>
          </a:prstGeom>
          <a:solidFill>
            <a:srgbClr val="24335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4400" y="3931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5448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 Expression Cancer Classification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RNA-seq data • Feature selection + pipeline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high-dimensional data, PCA, feature importance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0" y="4114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0972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best classifier — the right choice depends on your data and constraints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simple (Logistic Regression) and increase complexity only if needed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5603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evaluate with the metric that matches your clinical cost — Recall for screening, Precision for interventions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32918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scaling, class imbalance, and train/test leakage are the most common beginner mistakes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06908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0233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is often the best "first try" for tabular biomedical data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move to the notebooks!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3200400"/>
            <a:ext cx="2743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Dutta  •  pdutta@cs.stonybrook.edu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1108</Words>
  <Application>Microsoft Office PowerPoint</Application>
  <PresentationFormat>On-screen Show (16:9)</PresentationFormat>
  <Paragraphs>240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Learning: Classification Methods</dc:title>
  <dc:subject>PptxGenJS Presentation</dc:subject>
  <dc:creator>Pratik Dutta</dc:creator>
  <cp:lastModifiedBy>Dutta, Pratik</cp:lastModifiedBy>
  <cp:revision>2</cp:revision>
  <dcterms:created xsi:type="dcterms:W3CDTF">2026-04-02T02:22:01Z</dcterms:created>
  <dcterms:modified xsi:type="dcterms:W3CDTF">2026-04-02T17:15:38Z</dcterms:modified>
</cp:coreProperties>
</file>